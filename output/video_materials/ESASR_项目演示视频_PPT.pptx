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da5b1a52e244b2" /><Relationship Type="http://schemas.openxmlformats.org/officeDocument/2006/relationships/extended-properties" Target="/docProps/app.xml" Id="Re5b0e48ae72d48d3" /><Relationship Type="http://schemas.openxmlformats.org/officeDocument/2006/relationships/officeDocument" Target="/ppt/presentation.xml" Id="R4dd09488bb864a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541087ebe24470"/>
  </p:sldMasterIdLst>
  <p:notesMasterIdLst>
    <p:notesMasterId xmlns:r="http://schemas.openxmlformats.org/officeDocument/2006/relationships" r:id="R46cf42b89c0a4d3a"/>
  </p:notesMasterIdLst>
  <p:sldIdLst>
    <p:sldId xmlns:r="http://schemas.openxmlformats.org/officeDocument/2006/relationships" id="256" r:id="Raaa1e2820a904065"/>
    <p:sldId xmlns:r="http://schemas.openxmlformats.org/officeDocument/2006/relationships" id="257" r:id="R67851f70d2b2444a"/>
    <p:sldId xmlns:r="http://schemas.openxmlformats.org/officeDocument/2006/relationships" id="258" r:id="R4e1f7796aa654141"/>
    <p:sldId xmlns:r="http://schemas.openxmlformats.org/officeDocument/2006/relationships" id="259" r:id="R2b99ae029dcc4652"/>
    <p:sldId xmlns:r="http://schemas.openxmlformats.org/officeDocument/2006/relationships" id="260" r:id="R611f70314506469a"/>
    <p:sldId xmlns:r="http://schemas.openxmlformats.org/officeDocument/2006/relationships" id="261" r:id="R36edb1886efa492d"/>
    <p:sldId xmlns:r="http://schemas.openxmlformats.org/officeDocument/2006/relationships" id="262" r:id="Ra584221b40154a1d"/>
    <p:sldId xmlns:r="http://schemas.openxmlformats.org/officeDocument/2006/relationships" id="263" r:id="Rd89206df49d84bf9"/>
    <p:sldId xmlns:r="http://schemas.openxmlformats.org/officeDocument/2006/relationships" id="264" r:id="Rfb5c5cc92d6b47c3"/>
    <p:sldId xmlns:r="http://schemas.openxmlformats.org/officeDocument/2006/relationships" id="265" r:id="Rb8eee4772e5c4e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9a12bef48f4247" /><Relationship Type="http://schemas.openxmlformats.org/officeDocument/2006/relationships/slideMaster" Target="/ppt/slideMasters/slideMaster1.xml" Id="Rbc541087ebe24470" /><Relationship Type="http://schemas.openxmlformats.org/officeDocument/2006/relationships/notesMaster" Target="/ppt/notesMasters/notesMaster1.xml" Id="R46cf42b89c0a4d3a" /><Relationship Type="http://schemas.openxmlformats.org/officeDocument/2006/relationships/presProps" Target="/ppt/presProps.xml" Id="Rc0becde5b9a24e87" /><Relationship Type="http://schemas.openxmlformats.org/officeDocument/2006/relationships/tableStyles" Target="/ppt/tableStyles.xml" Id="R16dd86ae8dee4518" /><Relationship Type="http://schemas.openxmlformats.org/officeDocument/2006/relationships/slide" Target="/ppt/slides/slide1.xml" Id="Raaa1e2820a904065" /><Relationship Type="http://schemas.openxmlformats.org/officeDocument/2006/relationships/slide" Target="/ppt/slides/slide2.xml" Id="R67851f70d2b2444a" /><Relationship Type="http://schemas.openxmlformats.org/officeDocument/2006/relationships/slide" Target="/ppt/slides/slide3.xml" Id="R4e1f7796aa654141" /><Relationship Type="http://schemas.openxmlformats.org/officeDocument/2006/relationships/slide" Target="/ppt/slides/slide4.xml" Id="R2b99ae029dcc4652" /><Relationship Type="http://schemas.openxmlformats.org/officeDocument/2006/relationships/slide" Target="/ppt/slides/slide5.xml" Id="R611f70314506469a" /><Relationship Type="http://schemas.openxmlformats.org/officeDocument/2006/relationships/slide" Target="/ppt/slides/slide6.xml" Id="R36edb1886efa492d" /><Relationship Type="http://schemas.openxmlformats.org/officeDocument/2006/relationships/slide" Target="/ppt/slides/slide7.xml" Id="Ra584221b40154a1d" /><Relationship Type="http://schemas.openxmlformats.org/officeDocument/2006/relationships/slide" Target="/ppt/slides/slide8.xml" Id="Rd89206df49d84bf9" /><Relationship Type="http://schemas.openxmlformats.org/officeDocument/2006/relationships/slide" Target="/ppt/slides/slide9.xml" Id="Rfb5c5cc92d6b47c3" /><Relationship Type="http://schemas.openxmlformats.org/officeDocument/2006/relationships/slide" Target="/ppt/slides/slide10.xml" Id="Rb8eee4772e5c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19052eb8e846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b9980a24be480a" /><Relationship Type="http://schemas.openxmlformats.org/officeDocument/2006/relationships/notesMaster" Target="/ppt/notesMasters/notesMaster1.xml" Id="R88cfcb681a504b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b178c74ed14779" /><Relationship Type="http://schemas.openxmlformats.org/officeDocument/2006/relationships/notesMaster" Target="/ppt/notesMasters/notesMaster1.xml" Id="Rec8b95ca482f46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f799b18f6b4540" /><Relationship Type="http://schemas.openxmlformats.org/officeDocument/2006/relationships/notesMaster" Target="/ppt/notesMasters/notesMaster1.xml" Id="Ra5a6bb68363a4f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a86d2baeb54efa" /><Relationship Type="http://schemas.openxmlformats.org/officeDocument/2006/relationships/notesMaster" Target="/ppt/notesMasters/notesMaster1.xml" Id="Radee2028c67b40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76b92af246489c" /><Relationship Type="http://schemas.openxmlformats.org/officeDocument/2006/relationships/notesMaster" Target="/ppt/notesMasters/notesMaster1.xml" Id="R7e726a50e4074f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d10e0f3df94a9b" /><Relationship Type="http://schemas.openxmlformats.org/officeDocument/2006/relationships/notesMaster" Target="/ppt/notesMasters/notesMaster1.xml" Id="R6bb3066cd7094b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0d55141fde4923" /><Relationship Type="http://schemas.openxmlformats.org/officeDocument/2006/relationships/notesMaster" Target="/ppt/notesMasters/notesMaster1.xml" Id="R0df32159828d4b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12d843de1c409e" /><Relationship Type="http://schemas.openxmlformats.org/officeDocument/2006/relationships/notesMaster" Target="/ppt/notesMasters/notesMaster1.xml" Id="R63d4b517a76e43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23ec7fc78b45a6" /><Relationship Type="http://schemas.openxmlformats.org/officeDocument/2006/relationships/notesMaster" Target="/ppt/notesMasters/notesMaster1.xml" Id="R1b187d9165ea44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3505d2b0ad4584" /><Relationship Type="http://schemas.openxmlformats.org/officeDocument/2006/relationships/notesMaster" Target="/ppt/notesMasters/notesMaster1.xml" Id="R494b79c5dc4b4a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各位评委老师好，我们是 Justifying 团队。今天展示的项目是 ESASR，一套面向复杂科研问题、以证据状态驱动检索决策的自适应学术检索框架。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项目主报告《ESASR 项目报告》</a:t>
            </a:r>
          </a:p>
          <a:p xmlns:a="http://schemas.openxmlformats.org/drawingml/2006/main">
            <a:r>
              <a:t>- 项目自绘图 Fig1_ESASR_OverallFramework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先看一个真实的复杂查询。它同时包含主题、方法、问题属性、时间、会议、开放获取和排除条件。ESASR 不把任务理解为关键词匹配，而是把它定义为预算约束下的证据集合构建。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项目主报告第 1.1 节与第 2.1 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整条主线由统一证据状态协调。系统先编译约束，再并行召回；如果仍有证据缺口且预算允许，就定向补检；随后融合、局部精排，并根据置信度决定返回一篇还是两篇。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项目主报告图 1</a:t>
            </a:r>
          </a:p>
          <a:p xmlns:a="http://schemas.openxmlformats.org/drawingml/2006/main">
            <a:r>
              <a:t>- 项目自绘图 Fig1_ESASR_OverallFramework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前两个创新解决的是检索前和检索中的决策。CQC 把自然语言变成可执行、可验证的约束；EGRR 不做无差别二轮搜索，而是读取候选证据状态，仅针对未覆盖约束补检。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项目主报告第 2.2.1—2.2.2 节</a:t>
            </a:r>
          </a:p>
          <a:p xmlns:a="http://schemas.openxmlformats.org/drawingml/2006/main">
            <a:r>
              <a:t>- 项目自绘图 Fig2_CQC_QueryCompiler 与 Fig3_EGRR_RetrievalRouting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后两个创新解决候选如何排序以及返回多少。MEFR 先融合词法、来源和覆盖证据，LCER 只重排最可能改变首位结果的 Top-20；CARS 再根据分数结构决定是否扩展第二篇。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项目主报告第 2.2.3—2.2.4 节</a:t>
            </a:r>
          </a:p>
          <a:p xmlns:a="http://schemas.openxmlformats.org/drawingml/2006/main">
            <a:r>
              <a:t>- 项目自绘图 Fig4_MEFR_LCER_RankingPipeline 与 Fig5_CARS_AdaptiveSelection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下面进入系统实机演示。切换到浏览器后，粘贴左侧查询并点击检索。先展示结构化查询计划，再展开覆盖状态和运行轨迹；随后查看论文来源与命中约束，打开第一篇论文详情，最后返回结果页说明状态恢复。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项目系统首页截图 system-home.png</a:t>
            </a:r>
          </a:p>
          <a:p xmlns:a="http://schemas.openxmlformats.org/drawingml/2006/main">
            <a:r>
              <a:t>- 项目使用说明：默认 Web 地址 http://127.0.0.1:8080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为了避免技术堆叠式叙述，我们把两个问题分开验证。排序模块在固定 200 条样本、相同语料和候选池上比较；CARS 则在 100 条开发集上确定规则，再在 100 条独立测试集上只评估一次。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项目主报告第 3.3 节与图 8</a:t>
            </a:r>
          </a:p>
          <a:p xmlns:a="http://schemas.openxmlformats.org/drawingml/2006/main">
            <a:r>
              <a:t>- 项目自绘图 Fig7_Experiment_EvidenceProtocol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排序实验中，等权词法结合 LCER 的 F1@1 为 0.2649，比等权词法高 0.0183。独立测试中，CARS 的 Macro F1 为 0.2571，平均仅返回 1.07 篇。需要强调，两项配对区间都包含 0，所以我们只把它表述为初步正向趋势。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项目主报告表 3、表 4 与图 9</a:t>
            </a:r>
          </a:p>
          <a:p xmlns:a="http://schemas.openxmlformats.org/drawingml/2006/main">
            <a:r>
              <a:t>- 项目自绘图 Fig8_Ablation_Performance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工程侧不是静态原型。系统由 Vue 3、FastAPI、PostgreSQL、Redis、Neo4j 和 Docker Compose 组成；后端测试 48 项、CLI 测试 8 项全部通过。外部 API 或模型失败时，系统显示降级原因，不用演示数据静默替代真实结果。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项目主报告第 3.1、3.2 与 3.4 节</a:t>
            </a:r>
          </a:p>
          <a:p xmlns:a="http://schemas.openxmlformats.org/drawingml/2006/main">
            <a:r>
              <a:t>- 项目自绘图 Fig6_System_EndToEndDataFlow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最后总结三点。第一，我们定义的是复杂查询下的证据集合构建；第二，四项创新围绕同一证据状态形成闭环；第三，系统和实验都明确暴露边界。下一步最需要的是稳定高效的 OpenAlex 或 Semantic Scholar API，以及更大规模跨学科真实查询集。谢谢各位评委老师。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项目主报告第 1.3、2.2 与 3.3—3.6 节</a:t>
            </a:r>
          </a:p>
          <a:p xmlns:a="http://schemas.openxmlformats.org/drawingml/2006/main">
            <a:r>
              <a:t>- 项目代码仓库 https://github.com/wanglei1123/ScholarSeeker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8466be2044f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eab379badb4244" /><Relationship Type="http://schemas.openxmlformats.org/officeDocument/2006/relationships/slideLayout" Target="/ppt/slideLayouts/slideLayout1.xml" Id="R24b7a1d2b6c244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b7a1d2b6c244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d16d525ad4982" /><Relationship Type="http://schemas.openxmlformats.org/officeDocument/2006/relationships/image" Target="/ppt/media/image.png" Id="R9676e3816ede40e2" /><Relationship Type="http://schemas.openxmlformats.org/officeDocument/2006/relationships/notesSlide" Target="/ppt/notesSlides/notesSlide1.xml" Id="Ra314c6c3529d40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4a01e57954eba" /><Relationship Type="http://schemas.openxmlformats.org/officeDocument/2006/relationships/notesSlide" Target="/ppt/notesSlides/notesSlide2.xml" Id="Rfbc7e8bda14546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8dfbc4842445f" /><Relationship Type="http://schemas.openxmlformats.org/officeDocument/2006/relationships/image" Target="/ppt/media/image2.png" Id="R08ec5ff10af848df" /><Relationship Type="http://schemas.openxmlformats.org/officeDocument/2006/relationships/notesSlide" Target="/ppt/notesSlides/notesSlide3.xml" Id="R00e9f4bc42744a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9e5b2d1b8499a" /><Relationship Type="http://schemas.openxmlformats.org/officeDocument/2006/relationships/notesSlide" Target="/ppt/notesSlides/notesSlide4.xml" Id="R34b852a5e2ea40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bd61573734d09" /><Relationship Type="http://schemas.openxmlformats.org/officeDocument/2006/relationships/notesSlide" Target="/ppt/notesSlides/notesSlide5.xml" Id="R3b988789213c49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01f2dfcc549ff" /><Relationship Type="http://schemas.openxmlformats.org/officeDocument/2006/relationships/image" Target="/ppt/media/image3.png" Id="R71b5dfee113648f8" /><Relationship Type="http://schemas.openxmlformats.org/officeDocument/2006/relationships/notesSlide" Target="/ppt/notesSlides/notesSlide6.xml" Id="Rdc28178412a447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5ff927e134d48" /><Relationship Type="http://schemas.openxmlformats.org/officeDocument/2006/relationships/image" Target="/ppt/media/image4.png" Id="R3d491c09412b4535" /><Relationship Type="http://schemas.openxmlformats.org/officeDocument/2006/relationships/notesSlide" Target="/ppt/notesSlides/notesSlide7.xml" Id="R6721581555ad44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574f7a64c4f5e" /><Relationship Type="http://schemas.openxmlformats.org/officeDocument/2006/relationships/image" Target="/ppt/media/image5.png" Id="R754cffea1bbd481c" /><Relationship Type="http://schemas.openxmlformats.org/officeDocument/2006/relationships/notesSlide" Target="/ppt/notesSlides/notesSlide8.xml" Id="Racfef6797b3e43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ed73a004b4b76" /><Relationship Type="http://schemas.openxmlformats.org/officeDocument/2006/relationships/image" Target="/ppt/media/image6.png" Id="Rc07781f2646d47da" /><Relationship Type="http://schemas.openxmlformats.org/officeDocument/2006/relationships/notesSlide" Target="/ppt/notesSlides/notesSlide9.xml" Id="R7ea37e1b849f41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4ce79d2d047a3" /><Relationship Type="http://schemas.openxmlformats.org/officeDocument/2006/relationships/notesSlide" Target="/ppt/notesSlides/notesSlide10.xml" Id="Rad0e3dc95f4b45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5F8FE-D27B-4906-8F5E-4F10C916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第八届中国研究生人工智能创新大赛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52595-5D39-43EB-8952-7BBE480C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458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73F5F"/>
                </a:solidFill>
                <a:latin typeface="PingFang SC"/>
                <a:ea typeface="PingFang SC"/>
                <a:cs typeface="PingFang SC"/>
              </a:rPr>
              <a:t>ESASR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7B060-A542-4261-A337-54857509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953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证据状态驱动的</a:t>
            </a:r>
          </a:p>
          <a:p xmlns:a="http://schemas.openxmlformats.org/drawingml/2006/main">
            <a:pPr algn="l">
              <a:defRPr sz="33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自适应学术检索框架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E3E2A-485A-4065-9351-19FC98F2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Evidence-State Adaptive Scholarly Retrieval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5D3AA-E781-4C79-ADB9-E28AFCE8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FBD36-F321-4B4B-BF7F-9BEED8E7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团队：Justifying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524B0-5AFC-4C31-9C27-AFEF2C9D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复杂查询 · 可审计检索 · 自适应结果集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276CF-A363-4445-9248-D3893E34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9100"/>
            <a:ext cx="5629275" cy="567690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6e3816ede40e2"/>
          <a:stretch xmlns:a="http://schemas.openxmlformats.org/drawingml/2006/main"/>
        </p:blipFill>
        <p:spPr>
          <a:xfrm xmlns:a="http://schemas.openxmlformats.org/drawingml/2006/main">
            <a:off x="6191250" y="1890318"/>
            <a:ext cx="5162550" cy="269636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4E205-179F-4488-B390-FB937F90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8726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ABA41-C47F-4073-9062-B59BA3C0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问题定义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E668E-1481-410A-B036-E8F9E1BF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复杂科研问题不是一个关键词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EC314-AD40-4C9D-A166-230E7B26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CB49B-6078-44F9-9062-4B83E37A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F4CFF-AE3C-4E41-84CD-BF16488A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F5F"/>
                </a:solidFill>
                <a:latin typeface="PingFang SC"/>
                <a:ea typeface="PingFang SC"/>
                <a:cs typeface="PingFang SC"/>
              </a:rPr>
              <a:t>“寻找 2020 年以来使用 Transformer 提升弱纹理或大视角变化场景下图像匹配性能的论文，要求发表于 CVPR / ICCV / ECCV 且开放获取，优先包含 ScanNet 或 MegaDepth 实验，排除纯光流与综述。”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2DA5A-5524-4EF3-83DC-6A681D2E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487F5-2E1B-40FB-BA99-98325A40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传统检索需要反复试词；通用大模型容易遗漏约束，也难以核验来源。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0AA26-8CBD-4400-8C3C-958ED611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933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063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81276-A762-4877-B7D3-1AEFED1D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约束容易遗漏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9B52B-39E6-4162-BD6F-46B037B9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主题、方法、时间、Venue、OA、排除项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1DDE4-729E-4B45-AEDE-66762C15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2933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ED55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FE465-025C-4E4E-9AA9-67B97111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检索动作不可控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B6ADB-03E4-49A8-A7F4-62B858F3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4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何时补检、调用多少、何时停止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7A60C-B7EC-48C0-A04A-D643FAC8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2933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FF7F0"/>
          </a:solidFill>
          <a:ln xmlns:a="http://schemas.openxmlformats.org/drawingml/2006/main" w="9525">
            <a:solidFill>
              <a:srgbClr val="3A7D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CD764-10AE-4D66-8C1D-76AD25FF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A7D4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A7D44"/>
                </a:solidFill>
                <a:latin typeface="PingFang SC"/>
                <a:ea typeface="PingFang SC"/>
                <a:cs typeface="PingFang SC"/>
              </a:rPr>
              <a:t>结果规模固定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7BD11-FF9E-43B1-8284-945CE2C4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3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Top-K 无法同时兼顾精确率与召回率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76F5D-528C-4EF5-BEBC-31DFF897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我们的任务定义：在预算约束下构建可核验的论文证据集合。</a:t>
            </a:r>
          </a:p>
        </p:txBody>
      </p:sp>
    </p:spTree>
    <p:extLst>
      <p:ext uri="{BB962C8B-B14F-4D97-AF65-F5344CB8AC3E}">
        <p14:creationId xmlns:p14="http://schemas.microsoft.com/office/powerpoint/2010/main" val="1560205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6DCD3-6EB4-4D98-9C72-6640E8E6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总体技术路线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20467-EEDF-4EDD-B429-E8468FF6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证据状态决定下一步检索动作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2A93F-A54D-48CF-9EB6-5428CFCC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B3FFE-C77F-4567-A5E3-057AE5B9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c5ff10af848df"/>
          <a:stretch xmlns:a="http://schemas.openxmlformats.org/drawingml/2006/main"/>
        </p:blipFill>
        <p:spPr>
          <a:xfrm xmlns:a="http://schemas.openxmlformats.org/drawingml/2006/main">
            <a:off x="2010937" y="1428750"/>
            <a:ext cx="8170127" cy="4267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F17A8-5086-4815-9FAD-8572B6C2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53100"/>
            <a:ext cx="70485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55F07-B8C8-43D8-8845-70E1F2BC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102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3F5F"/>
                </a:solidFill>
                <a:latin typeface="PingFang SC"/>
                <a:ea typeface="PingFang SC"/>
                <a:cs typeface="PingFang SC"/>
              </a:rPr>
              <a:t>覆盖率 C · 证据缺口 G · 排名分布 S · 剩余预算 B</a:t>
            </a:r>
          </a:p>
        </p:txBody>
      </p:sp>
    </p:spTree>
    <p:extLst>
      <p:ext uri="{BB962C8B-B14F-4D97-AF65-F5344CB8AC3E}">
        <p14:creationId xmlns:p14="http://schemas.microsoft.com/office/powerpoint/2010/main" val="1527838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41B6B-A616-4A86-9B28-D5C381FE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创新点 1—2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3FE34-3652-4063-9CE6-0CF14FF5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先把意图编译清楚，再按证据缺口补检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4A6B6-B9DB-4FBF-88F4-0FCBF8CC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42AA0-0975-4FD2-AB3D-DF3C285C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81220-89F0-438A-8AD3-38164FE0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516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创新1：约束感知查询编译器（CQC）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D2C06-2168-49D2-980F-550CBD60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把自然语言变成可执行、可验证的统一约束槽位。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0D9A1-B9F6-4F6D-98A5-C02895F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3525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228EE-FD9D-474B-A8B3-2202A6F2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08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复杂科研</a:t>
            </a:r>
          </a:p>
          <a:p xmlns:a="http://schemas.openxmlformats.org/drawingml/2006/main">
            <a:pPr algn="ctr">
              <a:defRPr sz="165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8B6EA-ED69-466A-82B7-41ADCD33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52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04DCE-A496-4F6E-9403-CCE29BE6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95550"/>
            <a:ext cx="15430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063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D5FDF-B649-415A-BBD0-6263C681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289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统一槽位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574B6-041E-4CE9-A10A-4BF08C4A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718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主题 · 方法</a:t>
            </a:r>
          </a:p>
          <a:p xmlns:a="http://schemas.openxmlformats.org/drawingml/2006/main">
            <a:pPr algn="ctr">
              <a:def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时间 · Venue</a:t>
            </a:r>
          </a:p>
          <a:p xmlns:a="http://schemas.openxmlformats.org/drawingml/2006/main">
            <a:pPr algn="ctr">
              <a:def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OA · 排除项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EB83E-3762-4F92-A146-9521F7E0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9C316-5EFE-467A-9877-A93E0A69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10858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ED55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A566E-BF92-48F3-BC25-154F6895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89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87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硬约束过滤</a:t>
            </a:r>
          </a:p>
          <a:p xmlns:a="http://schemas.openxmlformats.org/drawingml/2006/main">
            <a:pPr algn="ctr">
              <a:def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软证据诊断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426E9-7A26-4C93-BCE3-ADA3F076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50101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7AD7E-EB1E-4130-844A-095ECEE6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459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3F5F"/>
                </a:solidFill>
                <a:latin typeface="PingFang SC"/>
                <a:ea typeface="PingFang SC"/>
                <a:cs typeface="PingFang SC"/>
              </a:rPr>
              <a:t>输出：查询计划 + 可审计约束 + 覆盖诊断入口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506B1-16EB-4798-B8F1-7FD5259C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47800"/>
            <a:ext cx="190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DBB1C-4608-4110-A314-11100191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09700"/>
            <a:ext cx="516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创新2：证据缺口驱动检索路由（EGRR）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103F6-B36A-42D8-89CC-2E5795BE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首轮召回后，只对未覆盖约束发起预算受控补检。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B8890-E731-4307-979C-39BE14CD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13525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8EFE22-5DCD-402F-9D99-DA25C7A9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108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多源首轮</a:t>
            </a:r>
          </a:p>
          <a:p xmlns:a="http://schemas.openxmlformats.org/drawingml/2006/main">
            <a:pPr algn="ctr">
              <a:defRPr sz="165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召回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7CD24-F1E1-489E-B93A-1B3AC04D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52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664088-C758-4A8C-8EBC-2F8D88D7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15430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0639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78DF3C-230B-4545-970C-9F382085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289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读取证据状态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99AA4F-C33E-49FC-86A5-55D461AA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覆盖率 C</a:t>
            </a:r>
          </a:p>
          <a:p xmlns:a="http://schemas.openxmlformats.org/drawingml/2006/main">
            <a:pPr algn="ctr">
              <a:def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缺口 G</a:t>
            </a:r>
          </a:p>
          <a:p xmlns:a="http://schemas.openxmlformats.org/drawingml/2006/main">
            <a:pPr algn="ctr">
              <a:def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剩余预算 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A6861-A1D2-47A7-A350-77663A55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52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FDFD1-6571-4FE2-A627-AF614A86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47950"/>
            <a:ext cx="10858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ED55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E1265-F890-4632-ACC0-8EE902F8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38450"/>
            <a:ext cx="89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1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定向补检</a:t>
            </a:r>
          </a:p>
          <a:p xmlns:a="http://schemas.openxmlformats.org/drawingml/2006/main">
            <a:pPr algn="ctr">
              <a:def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或停止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C8CAB3-2D4E-4F00-9A68-03FEDF33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50101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F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C66A6F-27DF-4771-B68A-12F082C6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459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A7D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A7D44"/>
                </a:solidFill>
                <a:latin typeface="PingFang SC"/>
                <a:ea typeface="PingFang SC"/>
                <a:cs typeface="PingFang SC"/>
              </a:rPr>
              <a:t>价值：避免盲目扩搜，把调用预算花在真实缺口上</a:t>
            </a:r>
          </a:p>
        </p:txBody>
      </p:sp>
    </p:spTree>
    <p:extLst>
      <p:ext uri="{BB962C8B-B14F-4D97-AF65-F5344CB8AC3E}">
        <p14:creationId xmlns:p14="http://schemas.microsoft.com/office/powerpoint/2010/main" val="1830325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3BD844-5BB3-4309-A4A3-E7EF4F7E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创新点 3—4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D76E2-41B6-48D6-948D-3EE76B90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把有限推理预算用在最可能改变结果的位置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73F6A-6621-45DE-A125-96640801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03A16-6683-46B8-BE46-EF280B97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2F774-1660-4BDF-BF22-AFA1C7A9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516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创新3：多源证据融合 + 局部语义精排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132AF-A0F2-4B5F-8FF4-D4810F63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MEFR 保留证据分解；LCER 仅对 Top-20 深度重排。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53CAE-51C8-4521-9A19-E6F95C67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3716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9EABB-7589-41CC-9945-B8C543BB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104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0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词法 · 来源</a:t>
            </a:r>
          </a:p>
          <a:p xmlns:a="http://schemas.openxmlformats.org/drawingml/2006/main">
            <a:pPr algn="ctr">
              <a:defRPr sz="1425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约束覆盖</a:t>
            </a:r>
          </a:p>
          <a:p xmlns:a="http://schemas.openxmlformats.org/drawingml/2006/main">
            <a:pPr algn="ctr">
              <a:defRPr sz="1425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新颖性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8D09F-452D-46DE-AB62-4815280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52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0AC2D-F846-4C57-8965-73B0F1DA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52700"/>
            <a:ext cx="13716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063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C3C19-867D-4516-A9F5-8795240A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003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54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可解释融合</a:t>
            </a:r>
          </a:p>
          <a:p xmlns:a="http://schemas.openxmlformats.org/drawingml/2006/main">
            <a:pPr algn="ctr">
              <a:defRPr sz="157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MEFR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CE709-A8C3-4865-B2CF-83251E86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C05D3-B80C-446D-8761-456F7B0F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2700"/>
            <a:ext cx="1162050" cy="11811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ED55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BF05E-04B2-4F5B-A4BB-D3127BF4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971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96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Top-20</a:t>
            </a:r>
          </a:p>
          <a:p xmlns:a="http://schemas.openxmlformats.org/drawingml/2006/main">
            <a:pPr algn="ctr">
              <a:def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Cross Encoder</a:t>
            </a:r>
          </a:p>
          <a:p xmlns:a="http://schemas.openxmlformats.org/drawingml/2006/main">
            <a:pPr algn="ctr">
              <a:def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精排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6BF7E-35AA-417B-BC24-82208506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50101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2D647-FC95-463C-917E-41820C34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459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73F5F"/>
                </a:solidFill>
                <a:latin typeface="PingFang SC"/>
                <a:ea typeface="PingFang SC"/>
                <a:cs typeface="PingFang SC"/>
              </a:rPr>
              <a:t>价值：深模型只处理最可能改变排序的候选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36A69-174D-458C-8FCB-A0C5AB04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47800"/>
            <a:ext cx="190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A87A2-3CB1-4E55-8D3F-9DE563B5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09700"/>
            <a:ext cx="516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创新4：置信度门控自适应结果集（CARS）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1A01B-E418-486C-BCA3-6BDA1A3A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依据第二候选的绝对分数、相对分数与局部落差决策。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28749-3879-4221-A788-B2CE2C81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52700"/>
            <a:ext cx="13716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66708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81183-0040-44EB-A94A-C57AFA3E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003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73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排序分数</a:t>
            </a:r>
          </a:p>
          <a:p xmlns:a="http://schemas.openxmlformats.org/drawingml/2006/main">
            <a:pPr algn="ctr">
              <a:defRPr sz="15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S₁ · S₂ · S₃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4E24BC-8F19-45C3-B2FF-A88A1637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95B0DD-62D7-4A01-AC61-EFD877CF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13716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ED55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E8B1A-9B7E-44C4-87E8-405AAB44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38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三维置信门控</a:t>
            </a:r>
          </a:p>
          <a:p xmlns:a="http://schemas.openxmlformats.org/drawingml/2006/main">
            <a:pPr algn="ctr">
              <a:def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绝对 · 相对</a:t>
            </a:r>
          </a:p>
          <a:p xmlns:a="http://schemas.openxmlformats.org/drawingml/2006/main">
            <a:pPr algn="ctr">
              <a:def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局部落差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53D9C-BC2A-406A-ACC1-AA1DD67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52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8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A7D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3A7D44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A6025D-9A7E-4CCA-8D37-9F298014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52700"/>
            <a:ext cx="1162050" cy="11811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FF7F0"/>
          </a:solidFill>
          <a:ln xmlns:a="http://schemas.openxmlformats.org/drawingml/2006/main" w="9525">
            <a:solidFill>
              <a:srgbClr val="3A7D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23813-5522-466F-8468-7A544B1B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1940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8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A7D4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A7D44"/>
                </a:solidFill>
                <a:latin typeface="PingFang SC"/>
                <a:ea typeface="PingFang SC"/>
                <a:cs typeface="PingFang SC"/>
              </a:rPr>
              <a:t>返回</a:t>
            </a:r>
          </a:p>
          <a:p xmlns:a="http://schemas.openxmlformats.org/drawingml/2006/main">
            <a:pPr algn="ctr">
              <a:defRPr sz="1650" b="1">
                <a:solidFill>
                  <a:srgbClr val="3A7D4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A7D44"/>
                </a:solidFill>
                <a:latin typeface="PingFang SC"/>
                <a:ea typeface="PingFang SC"/>
                <a:cs typeface="PingFang SC"/>
              </a:rPr>
              <a:t>1 或 2 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0DD769-4B45-42FB-A123-353C432A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50101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F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AFB5D5-67D2-477F-BB7B-32267166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459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9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A7D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A7D44"/>
                </a:solidFill>
                <a:latin typeface="PingFang SC"/>
                <a:ea typeface="PingFang SC"/>
                <a:cs typeface="PingFang SC"/>
              </a:rPr>
              <a:t>价值：结果规模随置信结构自适应，而非固定 Top-K</a:t>
            </a:r>
          </a:p>
        </p:txBody>
      </p:sp>
    </p:spTree>
    <p:extLst>
      <p:ext uri="{BB962C8B-B14F-4D97-AF65-F5344CB8AC3E}">
        <p14:creationId xmlns:p14="http://schemas.microsoft.com/office/powerpoint/2010/main" val="942744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3A6FD-018C-49D6-828E-9FF0F79C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系统实机演示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4A3FF-0F8E-4640-9D48-45B3EE6E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现在用一条复杂查询走完整链路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A6041-0DF6-4E89-88EA-09B2E828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8F435-74D5-4B95-BF6D-5024E7BE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B85ED-E13A-4D0F-8029-51819EAA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43815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9334D-9B28-48A2-B864-DB8CB5E1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演示查询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84CFA-B266-4293-8CA3-70347428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3810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11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3F5F"/>
                </a:solidFill>
                <a:latin typeface="PingFang SC"/>
                <a:ea typeface="PingFang SC"/>
                <a:cs typeface="PingFang SC"/>
              </a:rPr>
              <a:t>寻找 2020 年以来使用 Transformer 提升弱纹理或大视角变化场景下图像匹配性能的论文，要求发表于 CVPR / ICCV / ECCV 且开放获取，优先包含 ScanNet 或 MegaDepth 实验，排除纯光流与综述。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84F40-B72D-4D10-A6CA-3AD73083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重点观察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1504B-D11D-4DB6-BED5-FCB51511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① 查询计划与约束</a:t>
            </a:r>
          </a:p>
          <a:p xmlns:a="http://schemas.openxmlformats.org/drawingml/2006/main">
            <a:pPr algn="l">
              <a:def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② 覆盖状态与检索轨迹</a:t>
            </a:r>
          </a:p>
          <a:p xmlns:a="http://schemas.openxmlformats.org/drawingml/2006/main">
            <a:pPr algn="l">
              <a:def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③ 真实来源、缺失字段与论文详情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21108-AC5E-411E-807E-BE86BC8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485900"/>
            <a:ext cx="630555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5dfee113648f8"/>
          <a:stretch xmlns:a="http://schemas.openxmlformats.org/drawingml/2006/main"/>
        </p:blipFill>
        <p:spPr>
          <a:xfrm xmlns:a="http://schemas.openxmlformats.org/drawingml/2006/main">
            <a:off x="5448300" y="1895694"/>
            <a:ext cx="5962650" cy="308566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35637-3873-4FD9-B109-E30FEADF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下一步：进入系统实机演示 · http://127.0.0.1:8080</a:t>
            </a:r>
          </a:p>
        </p:txBody>
      </p:sp>
    </p:spTree>
    <p:extLst>
      <p:ext uri="{BB962C8B-B14F-4D97-AF65-F5344CB8AC3E}">
        <p14:creationId xmlns:p14="http://schemas.microsoft.com/office/powerpoint/2010/main" val="11314355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820E9-CE9A-4F08-8290-297ED4AF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实验设计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6BBB5-F55B-4A2F-B2C8-536B69C9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模块收益与输出策略必须分开验证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7742B-D4D3-4413-B103-44FB8BD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C0571-F93F-4FBA-BE61-202EAA2A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91c09412b4535"/>
          <a:stretch xmlns:a="http://schemas.openxmlformats.org/drawingml/2006/main"/>
        </p:blipFill>
        <p:spPr>
          <a:xfrm xmlns:a="http://schemas.openxmlformats.org/drawingml/2006/main">
            <a:off x="2064617" y="1466850"/>
            <a:ext cx="8062765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C42CD-F1FA-4158-8DC7-670E5A32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排序实验：固定 200 条、同语料、同 Top-100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256A6-E495-4E3E-9614-F8186B3A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输出策略：100 开发 + 100 独立测试，候选冻结</a:t>
            </a:r>
          </a:p>
        </p:txBody>
      </p:sp>
    </p:spTree>
    <p:extLst>
      <p:ext uri="{BB962C8B-B14F-4D97-AF65-F5344CB8AC3E}">
        <p14:creationId xmlns:p14="http://schemas.microsoft.com/office/powerpoint/2010/main" val="23796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E68E7-2B35-4D7D-96D1-F9A2C37B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7DD17-F295-4861-917C-B0813519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局部精排与自适应输出呈现正向趋势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87712-A2F7-4275-825A-91E4D803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A64D2-198A-4CD2-BF73-FDE72569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cffea1bbd481c"/>
          <a:stretch xmlns:a="http://schemas.openxmlformats.org/drawingml/2006/main"/>
        </p:blipFill>
        <p:spPr>
          <a:xfrm xmlns:a="http://schemas.openxmlformats.org/drawingml/2006/main">
            <a:off x="609600" y="1943785"/>
            <a:ext cx="7429500" cy="316093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9B31B-3531-4FCF-8C34-4F822571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7E501-F4C3-4228-9099-19EC33BD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90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0.2649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992F7-1F05-4F46-9CE0-79A8BED0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等权词法 + LCER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排序实验 F1@1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48B5C-FD95-4912-A506-DC0A3146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43FFC-D094-4E1D-8E22-1A3E89D5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+0.0183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A8C83-1FB7-4762-ACA6-162880A9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相对等权词法召回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的绝对提升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09ED4-F33D-4CD4-A1BB-FD7DF965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4B59F-BC59-4A88-ADFF-12E374BA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958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A7D4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3A7D44"/>
                </a:solidFill>
                <a:latin typeface="PingFang SC"/>
                <a:ea typeface="PingFang SC"/>
                <a:cs typeface="PingFang SC"/>
              </a:rPr>
              <a:t>0.2571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6A8D5-274D-4BEC-A4B0-8301E4E2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48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CARS 独立测试 F1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平均返回 1.07 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FA612-624D-4AF2-9E6E-C6F94F6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边界：现有配对区间包含 0，因此只报告初步正向趋势。</a:t>
            </a:r>
          </a:p>
        </p:txBody>
      </p:sp>
    </p:spTree>
    <p:extLst>
      <p:ext uri="{BB962C8B-B14F-4D97-AF65-F5344CB8AC3E}">
        <p14:creationId xmlns:p14="http://schemas.microsoft.com/office/powerpoint/2010/main" val="590994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FFA59-15CF-45C8-9FF2-B0C4DC3D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工程完整性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EB1A7-4672-40A7-86AE-45929401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系统可运行、可降级、可追踪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A9120-9C06-4E3D-AAED-814529A6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06B68-D628-4E9E-ABEC-D9A685E8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781f2646d47da"/>
          <a:stretch xmlns:a="http://schemas.openxmlformats.org/drawingml/2006/main"/>
        </p:blipFill>
        <p:spPr>
          <a:xfrm xmlns:a="http://schemas.openxmlformats.org/drawingml/2006/main">
            <a:off x="609600" y="1654852"/>
            <a:ext cx="7239000" cy="371974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C3C63-86CE-45D8-B156-086BF17D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621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6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BD9AA-A48B-4A18-922D-CBBF8449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48 / 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D970E-36C5-4D98-939A-28C2323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后端自动化测试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19BC0-581A-43DF-AFE8-D672670C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C4DCC-777A-4047-A695-58469B05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8 /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2B0E6-B56A-4551-BAA5-5C02FBBB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CLI 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167B1-0C5A-4FC1-87DD-2DDD7349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529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6331B-D1A5-4E10-98FA-8C707419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A7D4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3A7D44"/>
                </a:solidFill>
                <a:latin typeface="PingFang SC"/>
                <a:ea typeface="PingFang SC"/>
                <a:cs typeface="PingFang SC"/>
              </a:rPr>
              <a:t>741.7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3D0AB-ED66-4FFD-A61B-18C27FC3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96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离线 200 条查询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平均端到端时延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90716-3E11-418C-AC46-C107D267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Vue 3 · FastAPI · PostgreSQL · Redis · Neo4j · Docker Compose</a:t>
            </a:r>
          </a:p>
        </p:txBody>
      </p:sp>
    </p:spTree>
    <p:extLst>
      <p:ext uri="{BB962C8B-B14F-4D97-AF65-F5344CB8AC3E}">
        <p14:creationId xmlns:p14="http://schemas.microsoft.com/office/powerpoint/2010/main" val="1117400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95C99-B19C-4B11-AE2C-2846F279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评委应记住的三件事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2D3D9-4575-47B0-B089-1B6DB2A0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33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5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AE84B-3BB6-4E14-861D-C8AAA3DB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D1B76-08C5-4AD7-B0CD-0348EC92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431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问题定义清楚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30372-20B4-4F05-A485-14B7CDFC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431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复杂查询被转化为预算约束下的证据集合构建。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17DE2-5F63-4B51-A76E-C9630566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D553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ED553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8F07A-0451-4D6E-9179-15632E46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765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创新形成闭环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8771B-427A-4A04-8770-AF6DA4A1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765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编译约束、诊断缺口、融合精排、自适应返回。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99AF0-2E85-4D8F-9997-88C25435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A7D44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3A7D4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D6F47-BDD0-4731-A6EF-235D696A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2333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52333"/>
                </a:solidFill>
                <a:latin typeface="PingFang SC"/>
                <a:ea typeface="PingFang SC"/>
                <a:cs typeface="PingFang SC"/>
              </a:rPr>
              <a:t>证据边界透明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EB3A4-803F-4400-9AB2-11FB41FD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100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系统可运行，实验可复现，未显著结果不过度包装。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5E65C-FDC1-4913-9818-77706E79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B875B-F0B9-499E-A875-738F3D34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82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F5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F5F"/>
                </a:solidFill>
                <a:latin typeface="PingFang SC"/>
                <a:ea typeface="PingFang SC"/>
                <a:cs typeface="PingFang SC"/>
              </a:rPr>
              <a:t>下一步关键支持：OpenAlex 或 Semantic Scholar 的高效稳定 API，以及跨学科真实查询集。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BF539-F858-414D-BE97-2F2B3CF7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Justifying · ESASR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FCFED-6DD7-4D0C-AFC2-7052B39B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3246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0639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0639B"/>
                </a:solidFill>
                <a:latin typeface="PingFang SC"/>
                <a:ea typeface="PingFang SC"/>
                <a:cs typeface="PingFang SC"/>
              </a:rPr>
              <a:t>github.com/wanglei1123/ScholarSeeker</a:t>
            </a:r>
          </a:p>
        </p:txBody>
      </p:sp>
    </p:spTree>
    <p:extLst>
      <p:ext uri="{BB962C8B-B14F-4D97-AF65-F5344CB8AC3E}">
        <p14:creationId xmlns:p14="http://schemas.microsoft.com/office/powerpoint/2010/main" val="1853479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2026-08-26T13:29:25.5280000Z</dcterms:created>
  <dcterms:modified xsi:type="dcterms:W3CDTF">2026-08-26T13:29:25.5280000Z</dcterms:modified>
</coreProperties>
</file>